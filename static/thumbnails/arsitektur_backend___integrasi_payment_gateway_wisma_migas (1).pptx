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1" d="100"/>
          <a:sy n="101" d="100"/>
        </p:scale>
        <p:origin x="280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82547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D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92440" y="2743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38160" y="320040"/>
            <a:ext cx="411480" cy="4114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5" name="Shape 2"/>
          <p:cNvSpPr/>
          <p:nvPr/>
        </p:nvSpPr>
        <p:spPr>
          <a:xfrm>
            <a:off x="713232" y="384048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6" name="Shape 3"/>
          <p:cNvSpPr/>
          <p:nvPr/>
        </p:nvSpPr>
        <p:spPr>
          <a:xfrm>
            <a:off x="877824" y="384048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7" name="Text 4"/>
          <p:cNvSpPr/>
          <p:nvPr/>
        </p:nvSpPr>
        <p:spPr>
          <a:xfrm>
            <a:off x="1051560" y="347472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E7B7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bash ~ slide_deck_v1.0.sh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$ php artisan serve --env=production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1234440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D1FAE5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Arsitektur Backend &amp; Integrasi Payment Gateway Wisma Migas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548640" y="301752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6EE7B7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Sistem Reservasi Kamar Skalabel dengan Laravel 12, Livewire Volt, Xendit API, Google reCAPTCHA &amp; ImageKit CDN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48640" y="43891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E7B7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Presented by Backend Engineering Team | Wisma </a:t>
            </a:r>
            <a:r>
              <a:rPr lang="en-US" sz="1100">
                <a:solidFill>
                  <a:srgbClr val="6EE7B7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Migas 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20D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1FAE5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Agenda &amp; Sistematika Arsitektur Backend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E7B7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Pembahasan mendalam pilar teknis sistem dari keamanan autentikasi hingga payment pipeline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640080" cy="4114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8016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71600" y="1280160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1FAE5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Arsitektur &amp; Keamanan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1554480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E7B7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Autentikasi Multi-Role (RBAC) &amp; Proteksi Anti-Bot Google reCAPTCHA v2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640080" cy="4114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10312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71600" y="2103120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1FAE5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Payment Pipeline Xendit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2377440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E7B7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Otomatisasi pembuatan invoice, multi-channel payment, &amp; async webhook verification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926080"/>
            <a:ext cx="640080" cy="4114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92608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371600" y="2926080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1FAE5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Cloud Media &amp; Storage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3200400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E7B7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Integrasi CDN ImageKit &amp; Cloudinary untuk optimasi aset gambar dinamis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749040"/>
            <a:ext cx="640080" cy="4114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74904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04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371600" y="3749040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1FAE5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Dokumentasi API &amp; Testing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71600" y="4023360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E7B7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Standar OpenAPI 3.0, simulasi webhook cURL, &amp; pengujian E2E Playwright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20D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1FAE5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3 Pilar Utama Ekosistem Backend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E7B7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Kombinasi teknologi mutakhir untuk menjamin keandalan, skalabilitas, dan reaktivitas sistem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2468880" cy="3474720"/>
          </a:xfrm>
          <a:prstGeom prst="roundRect">
            <a:avLst>
              <a:gd name="adj" fmla="val 3704"/>
            </a:avLst>
          </a:prstGeom>
          <a:solidFill>
            <a:srgbClr val="161B22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71600"/>
            <a:ext cx="411480" cy="411480"/>
          </a:xfrm>
          <a:prstGeom prst="roundRect">
            <a:avLst>
              <a:gd name="adj" fmla="val 11111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13232" y="1399032"/>
            <a:ext cx="356616" cy="35661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057400" y="1371600"/>
            <a:ext cx="822960" cy="256032"/>
          </a:xfrm>
          <a:prstGeom prst="roundRect">
            <a:avLst>
              <a:gd name="adj" fmla="val 17857"/>
            </a:avLst>
          </a:prstGeom>
          <a:solidFill>
            <a:srgbClr val="0F2942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057400" y="138988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3C5FD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Pilar 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85800" y="187452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Core Engine &amp; Reaktivitas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85800" y="2331720"/>
            <a:ext cx="21945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1FAE5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Laravel 12 dipadukan dengan Livewire Volt Single-File Component menghadirkan responsifitas SPA tanpa kompleksitas REST terpisah.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337560" y="1234440"/>
            <a:ext cx="2468880" cy="3474720"/>
          </a:xfrm>
          <a:prstGeom prst="roundRect">
            <a:avLst>
              <a:gd name="adj" fmla="val 3704"/>
            </a:avLst>
          </a:prstGeom>
          <a:solidFill>
            <a:srgbClr val="161B22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474720" y="1371600"/>
            <a:ext cx="411480" cy="411480"/>
          </a:xfrm>
          <a:prstGeom prst="roundRect">
            <a:avLst>
              <a:gd name="adj" fmla="val 11111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502152" y="1399032"/>
            <a:ext cx="356616" cy="356616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846320" y="1371600"/>
            <a:ext cx="822960" cy="256032"/>
          </a:xfrm>
          <a:prstGeom prst="roundRect">
            <a:avLst>
              <a:gd name="adj" fmla="val 17857"/>
            </a:avLst>
          </a:prstGeom>
          <a:solidFill>
            <a:srgbClr val="0F2942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846320" y="138988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3C5FD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Pilar 2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3474720" y="187452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Keamanan &amp; Rate Limiting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3474720" y="2331720"/>
            <a:ext cx="21945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1FAE5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Proteksi Brute-Force Rate Limiting (5 req/min), enkripsi session, proteksi bot reCAPTCHA, serta verifikasi token webhook.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126480" y="1234440"/>
            <a:ext cx="2468880" cy="3474720"/>
          </a:xfrm>
          <a:prstGeom prst="roundRect">
            <a:avLst>
              <a:gd name="adj" fmla="val 3704"/>
            </a:avLst>
          </a:prstGeom>
          <a:solidFill>
            <a:srgbClr val="161B22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263640" y="1371600"/>
            <a:ext cx="411480" cy="411480"/>
          </a:xfrm>
          <a:prstGeom prst="roundRect">
            <a:avLst>
              <a:gd name="adj" fmla="val 11111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291072" y="1399032"/>
            <a:ext cx="356616" cy="356616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7635240" y="1371600"/>
            <a:ext cx="822960" cy="256032"/>
          </a:xfrm>
          <a:prstGeom prst="roundRect">
            <a:avLst>
              <a:gd name="adj" fmla="val 17857"/>
            </a:avLst>
          </a:prstGeom>
          <a:solidFill>
            <a:srgbClr val="0F2942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7635240" y="138988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3C5FD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Pilar 3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6263640" y="187452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Integrasi Cloud Eksternal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6263640" y="2331720"/>
            <a:ext cx="21945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1FAE5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Terhubung langsung dengan Xendit Gateway untuk pembayaran instan dan ImageKit CDN untuk rendering media super cepat.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20D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1FAE5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Autentikasi &amp; Proteksi Anti-Bot (Google reCAPTCHA)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E7B7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Implementasi sistem login aman dengan validasi token reCAPTCHA v2 ganda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5106006" cy="3474720"/>
          </a:xfrm>
          <a:prstGeom prst="roundRect">
            <a:avLst>
              <a:gd name="adj" fmla="val 2632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53312"/>
            <a:ext cx="73152" cy="7315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795528" y="1353312"/>
            <a:ext cx="73152" cy="7315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905256" y="1353312"/>
            <a:ext cx="73152" cy="7315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2560320" y="1298448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E7681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app.showcase.internal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48640" y="1508760"/>
            <a:ext cx="3840480" cy="0"/>
          </a:xfrm>
          <a:prstGeom prst="line">
            <a:avLst/>
          </a:prstGeom>
          <a:noFill/>
          <a:ln w="12700">
            <a:solidFill>
              <a:srgbClr val="21262D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39" y="1517903"/>
            <a:ext cx="5106007" cy="319125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225358" y="1247052"/>
            <a:ext cx="21378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FITUR &amp; KOMPONEN UTAMA: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896302" y="1608083"/>
            <a:ext cx="3064817" cy="31956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10B981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$ &gt; </a:t>
            </a:r>
            <a:r>
              <a:rPr lang="en-US" sz="1100" dirty="0">
                <a:solidFill>
                  <a:srgbClr val="D1FAE5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Mencegah serangan credential stuffing dan automated bot login secara efektif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10B981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$ &gt; </a:t>
            </a:r>
            <a:r>
              <a:rPr lang="en-US" sz="1100" dirty="0">
                <a:solidFill>
                  <a:srgbClr val="D1FAE5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Widget Google reCAPTCHA v2 di-render secara reaktif di atas Livewire Volt form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10B981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$ &gt; </a:t>
            </a:r>
            <a:r>
              <a:rPr lang="en-US" sz="1100" dirty="0">
                <a:solidFill>
                  <a:srgbClr val="D1FAE5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Token diverifikasi di backend melalui endpoint Google Siteverify sebelum attempt password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10B981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$ &gt; </a:t>
            </a:r>
            <a:r>
              <a:rPr lang="en-US" sz="1100" dirty="0">
                <a:solidFill>
                  <a:srgbClr val="D1FAE5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Dapat diaktifkan/dinonaktifkan secara fleksibel untuk lokal/staging via Artisan command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EDF3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Penanganan Validasi Form &amp; Error Feedback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Umpan balik seketika saat pengguna tidak memenuhi syarat keamanan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5177396" cy="3510192"/>
          </a:xfrm>
          <a:prstGeom prst="roundRect">
            <a:avLst>
              <a:gd name="adj" fmla="val 2632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53312"/>
            <a:ext cx="73152" cy="7315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795528" y="1353312"/>
            <a:ext cx="73152" cy="7315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905256" y="1353312"/>
            <a:ext cx="73152" cy="7315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2560320" y="1298448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E7681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app.showcase.internal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48640" y="1508760"/>
            <a:ext cx="3840480" cy="0"/>
          </a:xfrm>
          <a:prstGeom prst="line">
            <a:avLst/>
          </a:prstGeom>
          <a:noFill/>
          <a:ln w="12700">
            <a:solidFill>
              <a:srgbClr val="21262D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08759"/>
            <a:ext cx="5177396" cy="3235873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191749" y="1325880"/>
            <a:ext cx="215672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05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FITUR &amp; KOMPONEN UTAMA:</a:t>
            </a:r>
            <a:endParaRPr lang="en-US" sz="1100" dirty="0">
              <a:solidFill>
                <a:srgbClr val="00B050"/>
              </a:solidFill>
            </a:endParaRPr>
          </a:p>
        </p:txBody>
      </p:sp>
      <p:sp>
        <p:nvSpPr>
          <p:cNvPr id="12" name="Text 9"/>
          <p:cNvSpPr/>
          <p:nvPr/>
        </p:nvSpPr>
        <p:spPr>
          <a:xfrm>
            <a:off x="5927834" y="1691640"/>
            <a:ext cx="2818874" cy="3176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00B05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$ &gt; </a:t>
            </a:r>
            <a:r>
              <a:rPr lang="en-US" sz="1100" dirty="0">
                <a:solidFill>
                  <a:schemeClr val="accent6">
                    <a:lumMod val="20000"/>
                    <a:lumOff val="80000"/>
                  </a:schemeClr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Validasi Livewire realtime mengecek keberadaan token CAPTCHA pada lifecycle form</a:t>
            </a:r>
            <a:endParaRPr lang="en-US" sz="110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00B05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$ &gt; </a:t>
            </a:r>
            <a:r>
              <a:rPr lang="en-US" sz="1100" dirty="0">
                <a:solidFill>
                  <a:schemeClr val="accent6">
                    <a:lumMod val="20000"/>
                    <a:lumOff val="80000"/>
                  </a:schemeClr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Menampilkan error warning deskriptif tanpa perlu melakukan full page reload</a:t>
            </a:r>
            <a:endParaRPr lang="en-US" sz="110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00B05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$ &gt; </a:t>
            </a:r>
            <a:r>
              <a:rPr lang="en-US" sz="1100" dirty="0">
                <a:solidFill>
                  <a:schemeClr val="accent6">
                    <a:lumMod val="20000"/>
                    <a:lumOff val="80000"/>
                  </a:schemeClr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Rate Limiter otomatis mencatat throttle key untuk mencegah brute force berulang</a:t>
            </a:r>
            <a:endParaRPr lang="en-US" sz="110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00B05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$ &gt; </a:t>
            </a:r>
            <a:r>
              <a:rPr lang="en-US" sz="1100" dirty="0">
                <a:solidFill>
                  <a:schemeClr val="accent6">
                    <a:lumMod val="20000"/>
                    <a:lumOff val="80000"/>
                  </a:schemeClr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Menjaga konsistensi pengalaman pengguna dengan feedback visual yang jelas</a:t>
            </a:r>
            <a:endParaRPr lang="en-US" sz="110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20D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1FAE5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Pendaftaran Pengguna &amp; Manajemen Role (RBAC)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E7B7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Registrasi multi-role yang membedakan hak akses Admin, Peserta Diklat, dan Umum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39" y="1234440"/>
            <a:ext cx="5297215" cy="3589808"/>
          </a:xfrm>
          <a:prstGeom prst="roundRect">
            <a:avLst>
              <a:gd name="adj" fmla="val 2632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53312"/>
            <a:ext cx="73152" cy="7315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795528" y="1353312"/>
            <a:ext cx="73152" cy="7315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905256" y="1353312"/>
            <a:ext cx="73152" cy="7315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2560320" y="1298448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E7681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app.showcase.internal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48640" y="1508760"/>
            <a:ext cx="3840480" cy="0"/>
          </a:xfrm>
          <a:prstGeom prst="line">
            <a:avLst/>
          </a:prstGeom>
          <a:noFill/>
          <a:ln w="12700">
            <a:solidFill>
              <a:srgbClr val="21262D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 rotWithShape="1">
          <a:blip r:embed="rId3"/>
          <a:srcRect b="3768"/>
          <a:stretch/>
        </p:blipFill>
        <p:spPr>
          <a:xfrm>
            <a:off x="548638" y="1517905"/>
            <a:ext cx="5297216" cy="330634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394494" y="1318943"/>
            <a:ext cx="220086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FITUR &amp; KOMPONEN UTAMA: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199002" y="1593263"/>
            <a:ext cx="2837793" cy="38215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10B981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$ &gt; </a:t>
            </a:r>
            <a:r>
              <a:rPr lang="en-US" sz="1100" dirty="0">
                <a:solidFill>
                  <a:srgbClr val="D1FAE5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Setiap user baru di-generate UUID unik dan password terenkripsi Bcrypt (12 rounds)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10B981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$ &gt; </a:t>
            </a:r>
            <a:r>
              <a:rPr lang="en-US" sz="1100" dirty="0">
                <a:solidFill>
                  <a:srgbClr val="D1FAE5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Proteksi form pendaftaran dengan reCAPTCHA untuk mencegah spam pendaftaran akun palsu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10B981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$ &gt; </a:t>
            </a:r>
            <a:r>
              <a:rPr lang="en-US" sz="1100" dirty="0">
                <a:solidFill>
                  <a:srgbClr val="D1FAE5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Otomatisasi pengalihan routing (Admin diarahkan ke Dashboard, Tamu ke Katalog Kamar)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10B981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$ &gt; </a:t>
            </a:r>
            <a:r>
              <a:rPr lang="en-US" sz="1100" dirty="0">
                <a:solidFill>
                  <a:srgbClr val="D1FAE5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Event Registered dipicu untuk dispatch notifikasi dan welcome sequence sistem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20D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1FAE5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Arsitektur Webhook Handler (`POST /notification`)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0" y="3657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PHP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8046720" cy="3749040"/>
          </a:xfrm>
          <a:prstGeom prst="roundRect">
            <a:avLst>
              <a:gd name="adj" fmla="val 2439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0058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$ curl -X </a:t>
            </a:r>
            <a:r>
              <a:rPr lang="en-US" sz="1000">
                <a:solidFill>
                  <a:srgbClr val="8B949E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POST domain/</a:t>
            </a:r>
            <a:r>
              <a:rPr lang="en-US" sz="1000" dirty="0">
                <a:solidFill>
                  <a:srgbClr val="8B949E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notification -H 'x-callback-token: ***'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223760" y="1024128"/>
            <a:ext cx="1188720" cy="256032"/>
          </a:xfrm>
          <a:prstGeom prst="roundRect">
            <a:avLst>
              <a:gd name="adj" fmla="val 17857"/>
            </a:avLst>
          </a:prstGeom>
          <a:solidFill>
            <a:srgbClr val="042F2E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23760" y="1042416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4D39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● ACTIVE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353312"/>
            <a:ext cx="8046720" cy="0"/>
          </a:xfrm>
          <a:prstGeom prst="line">
            <a:avLst/>
          </a:prstGeom>
          <a:noFill/>
          <a:ln w="12700">
            <a:solidFill>
              <a:srgbClr val="2126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417320"/>
            <a:ext cx="76809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public function handle(Request $request)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    $token = $request-&gt;header('x-callback-token');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    if ($token !== config('services.xendit.callback_token'))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        return response()-&gt;json(['status' =&gt; 'Error'], 403);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    }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    $order = Order::where('external_id', $request-&gt;external_id)-&gt;first();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    if ($order &amp;&amp; $request-&gt;status === 'PAID')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        $order-&gt;status = 'Completed';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        $today = Carbon::now()-&gt;startOfDay();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        $checkin = Carbon::parse($order-&gt;checkin)-&gt;startOfDay();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       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        $kamarStatus = $checkin-&gt;greaterThan($today) ? 'terjadwal' : 'telah dipesan';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        $order-&gt;kamar()-&gt;update(['status' =&gt; $kamarStatus]);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        $order-&gt;save();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   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    return response()-&gt;json(['status' =&gt; 200, 'message' =&gt; 'Processed']);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20D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1FAE5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Alur Checkout &amp; Perhitungan Harga Dinamis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E7B7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Validasi tanggal menginap, kalkulasi fasilitas kamar, &amp; generate invoice ID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5304780" cy="3589808"/>
          </a:xfrm>
          <a:prstGeom prst="roundRect">
            <a:avLst>
              <a:gd name="adj" fmla="val 2632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53312"/>
            <a:ext cx="73152" cy="7315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795528" y="1353312"/>
            <a:ext cx="73152" cy="7315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905256" y="1353312"/>
            <a:ext cx="73152" cy="7315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2560320" y="1298448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E7681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app.showcase.internal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48640" y="1508760"/>
            <a:ext cx="3840480" cy="0"/>
          </a:xfrm>
          <a:prstGeom prst="line">
            <a:avLst/>
          </a:prstGeom>
          <a:noFill/>
          <a:ln w="12700">
            <a:solidFill>
              <a:srgbClr val="21262D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39" y="1508760"/>
            <a:ext cx="5304781" cy="331548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430124" y="129844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FITUR &amp; KOMPONEN UTAMA: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016123" y="1631337"/>
            <a:ext cx="2888241" cy="30703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10B981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$ &gt; </a:t>
            </a:r>
            <a:r>
              <a:rPr lang="en-US" sz="1100" dirty="0">
                <a:solidFill>
                  <a:srgbClr val="D1FAE5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Kalkulasi harga berbasis durasi hari dan addon fasilitas (AC, WiFi, TV, Penjemputan)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10B981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$ &gt; </a:t>
            </a:r>
            <a:r>
              <a:rPr lang="en-US" sz="1100" dirty="0">
                <a:solidFill>
                  <a:srgbClr val="D1FAE5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Proteksi server-side: Harga divalidasi ulang langsung dari database untuk cegah manipulasi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10B981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$ &gt; </a:t>
            </a:r>
            <a:r>
              <a:rPr lang="en-US" sz="1100" dirty="0">
                <a:solidFill>
                  <a:srgbClr val="D1FAE5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Generate nomor invoice unik terstandarisasi (misal: INV-67DA1A9B2C3D4)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10B981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$ &gt; </a:t>
            </a:r>
            <a:r>
              <a:rPr lang="en-US" sz="1100" dirty="0">
                <a:solidFill>
                  <a:srgbClr val="D1FAE5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Menghubungkan record Order dengan data Kamar &amp; User melalui relasi Eloquent ORM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20D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1FAE5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Integrasi Xendit Payment Gateway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E7B7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Mendukung pembayaran multi-channel otomatis (VA Bank, QRIS, E-Wallet, Retail)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39" y="1234439"/>
            <a:ext cx="4319753" cy="3695145"/>
          </a:xfrm>
          <a:prstGeom prst="roundRect">
            <a:avLst>
              <a:gd name="adj" fmla="val 2632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53312"/>
            <a:ext cx="73152" cy="7315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795528" y="1353312"/>
            <a:ext cx="73152" cy="7315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905256" y="1353312"/>
            <a:ext cx="73152" cy="7315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2560320" y="1298448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E7681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app.showcase.internal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48640" y="1508760"/>
            <a:ext cx="3840480" cy="0"/>
          </a:xfrm>
          <a:prstGeom prst="line">
            <a:avLst/>
          </a:prstGeom>
          <a:noFill/>
          <a:ln w="12700">
            <a:solidFill>
              <a:srgbClr val="21262D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 rotWithShape="1">
          <a:blip r:embed="rId3"/>
          <a:srcRect t="3696" b="4669"/>
          <a:stretch/>
        </p:blipFill>
        <p:spPr>
          <a:xfrm>
            <a:off x="548638" y="1531933"/>
            <a:ext cx="4319754" cy="33976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004770" y="1344168"/>
            <a:ext cx="230807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FITUR &amp; KOMPONEN UTAMA: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574686" y="1693215"/>
            <a:ext cx="3228779" cy="291819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10B981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$ &gt; </a:t>
            </a:r>
            <a:r>
              <a:rPr lang="en-US" sz="1100" dirty="0">
                <a:solidFill>
                  <a:srgbClr val="D1FAE5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Mendukung Virtual Account BCA, BRI, BNI, Mandiri, dan Permata Bank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10B981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$ &gt; </a:t>
            </a:r>
            <a:r>
              <a:rPr lang="en-US" sz="1100" dirty="0">
                <a:solidFill>
                  <a:srgbClr val="D1FAE5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Pembayaran instan melalui QRIS &amp; E-Wallet (OVO, DANA, ShopeePay, LinkAja)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10B981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$ &gt; </a:t>
            </a:r>
            <a:r>
              <a:rPr lang="en-US" sz="1100" dirty="0">
                <a:solidFill>
                  <a:srgbClr val="D1FAE5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Pembayaran tunai melalui jaringan gerai ritel Alfamart &amp; Indomaret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10B981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$ &gt; </a:t>
            </a:r>
            <a:r>
              <a:rPr lang="en-US" sz="1100" dirty="0">
                <a:solidFill>
                  <a:srgbClr val="D1FAE5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Masa aktif invoice 48 jam dengan auto-expiry dan rekonsiliasi otomatis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0D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1FAE5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Dashboard Admin &amp; Manajemen Inventaris Kamar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E7B7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Visualisasi okupansi hunian, status kamar real-time, dan panel kendali order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4944066" cy="3364361"/>
          </a:xfrm>
          <a:prstGeom prst="roundRect">
            <a:avLst>
              <a:gd name="adj" fmla="val 2632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53312"/>
            <a:ext cx="73152" cy="7315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795528" y="1353312"/>
            <a:ext cx="73152" cy="7315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905256" y="1353312"/>
            <a:ext cx="73152" cy="7315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2560320" y="1298448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E7681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app.showcase.internal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48640" y="1508760"/>
            <a:ext cx="3840480" cy="0"/>
          </a:xfrm>
          <a:prstGeom prst="line">
            <a:avLst/>
          </a:prstGeom>
          <a:noFill/>
          <a:ln w="12700">
            <a:solidFill>
              <a:srgbClr val="21262D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08760"/>
            <a:ext cx="4944066" cy="3090041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301477" y="1325880"/>
            <a:ext cx="215672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FITUR &amp; KOMPONEN UTAMA: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879592" y="1722540"/>
            <a:ext cx="2965494" cy="29866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10B981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$ &gt; </a:t>
            </a:r>
            <a:r>
              <a:rPr lang="en-US" sz="1100" dirty="0">
                <a:solidFill>
                  <a:srgbClr val="D1FAE5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Monitoring okupansi kamar wisma dengan grafik penghuni interaktif (ApexCharts)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10B981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$ &gt; </a:t>
            </a:r>
            <a:r>
              <a:rPr lang="en-US" sz="1100" dirty="0">
                <a:solidFill>
                  <a:srgbClr val="D1FAE5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Manajemen status kamar dinamis: Tersedia, Telah Dipesan, Terjadwal, &amp; Pemeliharaan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10B981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$ &gt; </a:t>
            </a:r>
            <a:r>
              <a:rPr lang="en-US" sz="1100" dirty="0">
                <a:solidFill>
                  <a:srgbClr val="D1FAE5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Pusat kontrol transaksi masuk dengan pelacakan status pembayaran real-time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10B981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$ &gt; </a:t>
            </a:r>
            <a:r>
              <a:rPr lang="en-US" sz="1100" dirty="0">
                <a:solidFill>
                  <a:srgbClr val="D1FAE5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Akses eksklusif terproteksi middleware `role:admin`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20D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1FAE5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Standardisasi Spesifikasi API &amp; Webhook Portal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E7B7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Dokumentasi OpenAPI 3.0 interaktif untuk developer dan integrasi sistem pihak ketiga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39" y="1234440"/>
            <a:ext cx="5504437" cy="3474720"/>
          </a:xfrm>
          <a:prstGeom prst="roundRect">
            <a:avLst>
              <a:gd name="adj" fmla="val 2632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53312"/>
            <a:ext cx="73152" cy="7315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795528" y="1353312"/>
            <a:ext cx="73152" cy="7315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905256" y="1353312"/>
            <a:ext cx="73152" cy="7315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2560320" y="1298448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E7681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app.showcase.internal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48640" y="1508760"/>
            <a:ext cx="3840480" cy="0"/>
          </a:xfrm>
          <a:prstGeom prst="line">
            <a:avLst/>
          </a:prstGeom>
          <a:noFill/>
          <a:ln w="12700">
            <a:solidFill>
              <a:srgbClr val="21262D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 rotWithShape="1">
          <a:blip r:embed="rId3"/>
          <a:srcRect l="28350" t="5317" r="7169" b="38133"/>
          <a:stretch/>
        </p:blipFill>
        <p:spPr>
          <a:xfrm>
            <a:off x="548640" y="1513332"/>
            <a:ext cx="2819720" cy="319582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497070" y="1152144"/>
            <a:ext cx="224501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FITUR &amp; KOMPONEN UTAMA: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154517" y="1508759"/>
            <a:ext cx="2882277" cy="33407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10B981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$ &gt; </a:t>
            </a:r>
            <a:r>
              <a:rPr lang="en-US" sz="1100" dirty="0">
                <a:solidFill>
                  <a:srgbClr val="D1FAE5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Spesifikasi endpoint `/notification` dengan skema payload JSON dan respon kode HTTP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10B981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$ &gt; </a:t>
            </a:r>
            <a:r>
              <a:rPr lang="en-US" sz="1100" dirty="0">
                <a:solidFill>
                  <a:srgbClr val="D1FAE5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Format standar RESTful &amp; Webhook Security Guide dengan header verifikasi token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10B981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$ &gt; </a:t>
            </a:r>
            <a:r>
              <a:rPr lang="en-US" sz="1100" dirty="0">
                <a:solidFill>
                  <a:srgbClr val="D1FAE5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Tersedia skrip cURL siap pakai untuk pengujian dan simulasi status transaksi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10B981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$ &gt; </a:t>
            </a:r>
            <a:r>
              <a:rPr lang="en-US" sz="1100" dirty="0">
                <a:solidFill>
                  <a:srgbClr val="D1FAE5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Dapat diakses langsung via portal web interaktif `/api-docs.html`</a:t>
            </a:r>
            <a:endParaRPr lang="en-US" sz="1100" dirty="0"/>
          </a:p>
        </p:txBody>
      </p:sp>
      <p:pic>
        <p:nvPicPr>
          <p:cNvPr id="13" name="Image 0" descr="preencoded.png">
            <a:extLst>
              <a:ext uri="{FF2B5EF4-FFF2-40B4-BE49-F238E27FC236}">
                <a16:creationId xmlns:a16="http://schemas.microsoft.com/office/drawing/2014/main" id="{0BD02CF6-CCD3-4F8A-AB43-ACD766B561B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7718" t="38474" r="4648"/>
          <a:stretch/>
        </p:blipFill>
        <p:spPr>
          <a:xfrm>
            <a:off x="3334797" y="1481327"/>
            <a:ext cx="2718280" cy="319581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20D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1FAE5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Metrik Kinerja &amp; Key Performance Indicator (KPI)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E7B7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Hasil pengujian beban sistem, keandalan webhook, dan efisiensi pemrosesan data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2468880" cy="3474720"/>
          </a:xfrm>
          <a:prstGeom prst="roundRect">
            <a:avLst>
              <a:gd name="adj" fmla="val 3704"/>
            </a:avLst>
          </a:prstGeom>
          <a:solidFill>
            <a:srgbClr val="161B22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600200" y="1353312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78308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0B981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99.98%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640080" y="26060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1FAE5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Webhook Delivery Success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315468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E7B7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Zero packet loss on callback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337560" y="1234440"/>
            <a:ext cx="2468880" cy="3474720"/>
          </a:xfrm>
          <a:prstGeom prst="roundRect">
            <a:avLst>
              <a:gd name="adj" fmla="val 3704"/>
            </a:avLst>
          </a:prstGeom>
          <a:solidFill>
            <a:srgbClr val="161B22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389120" y="1353312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29000" y="178308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0B981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&lt; 65ms</a:t>
            </a:r>
            <a:endParaRPr lang="en-US" sz="3000" dirty="0"/>
          </a:p>
        </p:txBody>
      </p:sp>
      <p:sp>
        <p:nvSpPr>
          <p:cNvPr id="12" name="Text 8"/>
          <p:cNvSpPr/>
          <p:nvPr/>
        </p:nvSpPr>
        <p:spPr>
          <a:xfrm>
            <a:off x="3429000" y="26060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1FAE5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Rata-rata Respon API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429000" y="315468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E7B7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Optimasi Database Indexing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126480" y="1234440"/>
            <a:ext cx="2468880" cy="3474720"/>
          </a:xfrm>
          <a:prstGeom prst="roundRect">
            <a:avLst>
              <a:gd name="adj" fmla="val 3704"/>
            </a:avLst>
          </a:prstGeom>
          <a:solidFill>
            <a:srgbClr val="161B22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178040" y="1353312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217920" y="178308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0B981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100%</a:t>
            </a:r>
            <a:endParaRPr lang="en-US" sz="3000" dirty="0"/>
          </a:p>
        </p:txBody>
      </p:sp>
      <p:sp>
        <p:nvSpPr>
          <p:cNvPr id="17" name="Text 12"/>
          <p:cNvSpPr/>
          <p:nvPr/>
        </p:nvSpPr>
        <p:spPr>
          <a:xfrm>
            <a:off x="6217920" y="26060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1FAE5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Akurasi Rekonsiliasi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217920" y="315468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E7B7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Otomatisasi Status Kamar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20D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1FAE5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Komparasi: Sistem Konvensional vs Arsitektur Baru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3840480" cy="3474720"/>
          </a:xfrm>
          <a:prstGeom prst="roundRect">
            <a:avLst>
              <a:gd name="adj" fmla="val 2632"/>
            </a:avLst>
          </a:prstGeom>
          <a:solidFill>
            <a:srgbClr val="161B22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B981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Sistem Reservasi Konvensional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3474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1FAE5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• Verifikasi pembayaran manual melalui upload bukti transfer bank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1FAE5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• Risiko tinggi pemalsuan struk transfer dan human-error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1FAE5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• Keterlambatan update ketersediaan kamar yang memicu double-booking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1FAE5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• Penyimpanan gambar lokal yang membebani storage dan bandwidth server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1FAE5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• Tanpa proteksi anti-bot pada form login dan registrasi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234440"/>
            <a:ext cx="3840480" cy="3474720"/>
          </a:xfrm>
          <a:prstGeom prst="roundRect">
            <a:avLst>
              <a:gd name="adj" fmla="val 2632"/>
            </a:avLst>
          </a:prstGeom>
          <a:solidFill>
            <a:srgbClr val="161B22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1371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B981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Solusi Arsitektur Baru (Wisma Migas)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937760" y="1828800"/>
            <a:ext cx="3474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1FAE5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• Otomatisasi 100% verifikasi pembayaran via Xendit Asynchronous Webhook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1FAE5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• Keamanan terjamin dengan verifikasi token `x-callback-token`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1FAE5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• Status kamar ter-update secara real-time otomatis saat dana diterima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1FAE5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• Distribusi aset media terdesentralisasi melalui ImageKit &amp; Cloudinary CDN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1FAE5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• Keamanan berlapis dengan Google reCAPTCHA v2 dan Rate Limiter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20D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1FAE5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Kesimpulan &amp; Rencana Pengembangan Lanjutan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E7B7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Fondasi backend yang kokoh untuk ekspansi ekosistem digital Wisma Migas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2468880" cy="3474720"/>
          </a:xfrm>
          <a:prstGeom prst="roundRect">
            <a:avLst>
              <a:gd name="adj" fmla="val 3704"/>
            </a:avLst>
          </a:prstGeom>
          <a:solidFill>
            <a:srgbClr val="161B22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71600"/>
            <a:ext cx="411480" cy="411480"/>
          </a:xfrm>
          <a:prstGeom prst="roundRect">
            <a:avLst>
              <a:gd name="adj" fmla="val 11111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13232" y="1399032"/>
            <a:ext cx="356616" cy="35661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057400" y="1371600"/>
            <a:ext cx="822960" cy="256032"/>
          </a:xfrm>
          <a:prstGeom prst="roundRect">
            <a:avLst>
              <a:gd name="adj" fmla="val 17857"/>
            </a:avLst>
          </a:prstGeom>
          <a:solidFill>
            <a:srgbClr val="0F2942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057400" y="138988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3C5FD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Keunggulan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85800" y="187452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Arsitektur Skalabel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85800" y="2331720"/>
            <a:ext cx="21945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1FAE5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Struktur modular Laravel 12 + Livewire mempermudah penambahan fitur dan integrasi API baru tanpa refactoring masif.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337560" y="1234440"/>
            <a:ext cx="2468880" cy="3474720"/>
          </a:xfrm>
          <a:prstGeom prst="roundRect">
            <a:avLst>
              <a:gd name="adj" fmla="val 3704"/>
            </a:avLst>
          </a:prstGeom>
          <a:solidFill>
            <a:srgbClr val="161B22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474720" y="1371600"/>
            <a:ext cx="411480" cy="411480"/>
          </a:xfrm>
          <a:prstGeom prst="roundRect">
            <a:avLst>
              <a:gd name="adj" fmla="val 11111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502152" y="1399032"/>
            <a:ext cx="356616" cy="356616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846320" y="1371600"/>
            <a:ext cx="822960" cy="256032"/>
          </a:xfrm>
          <a:prstGeom prst="roundRect">
            <a:avLst>
              <a:gd name="adj" fmla="val 17857"/>
            </a:avLst>
          </a:prstGeom>
          <a:solidFill>
            <a:srgbClr val="0F2942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846320" y="138988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3C5FD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Efisiensi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3474720" y="187452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Otomatisasi End-to-End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3474720" y="2331720"/>
            <a:ext cx="21945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1FAE5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Proses bisnis pemesanan, verifikasi dana, hingga alokasi kamar berjalan tanpa intervensi manual staff.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126480" y="1234440"/>
            <a:ext cx="2468880" cy="3474720"/>
          </a:xfrm>
          <a:prstGeom prst="roundRect">
            <a:avLst>
              <a:gd name="adj" fmla="val 3704"/>
            </a:avLst>
          </a:prstGeom>
          <a:solidFill>
            <a:srgbClr val="161B22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263640" y="1371600"/>
            <a:ext cx="411480" cy="411480"/>
          </a:xfrm>
          <a:prstGeom prst="roundRect">
            <a:avLst>
              <a:gd name="adj" fmla="val 11111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291072" y="1399032"/>
            <a:ext cx="356616" cy="356616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7635240" y="1371600"/>
            <a:ext cx="822960" cy="256032"/>
          </a:xfrm>
          <a:prstGeom prst="roundRect">
            <a:avLst>
              <a:gd name="adj" fmla="val 17857"/>
            </a:avLst>
          </a:prstGeom>
          <a:solidFill>
            <a:srgbClr val="0F2942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7635240" y="138988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3C5FD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Roadmap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6263640" y="187452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Roadmap Masa Depan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6263640" y="2331720"/>
            <a:ext cx="21945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1FAE5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Rencana integrasi Push Notification WhatsApp Gateway, Auto-Refund API, dan Machine Learning Price Forecasting.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1238</Words>
  <Application>Microsoft Office PowerPoint</Application>
  <PresentationFormat>On-screen Show (16:9)</PresentationFormat>
  <Paragraphs>157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Source Code Pro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Arsitektur Backend &amp; Integrasi Payment Gateway Wisma Migas</dc:title>
  <dc:subject>PptxGenJS Presentation</dc:subject>
  <dc:creator>PptxGenJS</dc:creator>
  <cp:lastModifiedBy>rofiksixtynine@outlook.com</cp:lastModifiedBy>
  <cp:revision>4</cp:revision>
  <dcterms:created xsi:type="dcterms:W3CDTF">2026-09-19T03:41:58Z</dcterms:created>
  <dcterms:modified xsi:type="dcterms:W3CDTF">2026-09-19T04:08:04Z</dcterms:modified>
</cp:coreProperties>
</file>